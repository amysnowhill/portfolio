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0" r:id="rId2"/>
    <p:sldId id="256" r:id="rId3"/>
    <p:sldId id="272" r:id="rId4"/>
    <p:sldId id="268" r:id="rId5"/>
    <p:sldId id="258" r:id="rId6"/>
    <p:sldId id="259" r:id="rId7"/>
    <p:sldId id="260" r:id="rId8"/>
    <p:sldId id="261" r:id="rId9"/>
    <p:sldId id="257" r:id="rId10"/>
    <p:sldId id="271" r:id="rId11"/>
    <p:sldId id="269" r:id="rId12"/>
    <p:sldId id="265" r:id="rId13"/>
    <p:sldId id="266" r:id="rId14"/>
    <p:sldId id="267" r:id="rId15"/>
    <p:sldId id="273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D2471-3A94-47FB-B536-FDF57F5BC840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0A9A8-E4D2-48F7-A76B-3C58DB1FDC53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4984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D2471-3A94-47FB-B536-FDF57F5BC840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0A9A8-E4D2-48F7-A76B-3C58DB1FD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664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D2471-3A94-47FB-B536-FDF57F5BC840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0A9A8-E4D2-48F7-A76B-3C58DB1FD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685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D2471-3A94-47FB-B536-FDF57F5BC840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0A9A8-E4D2-48F7-A76B-3C58DB1FD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190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D2471-3A94-47FB-B536-FDF57F5BC840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0A9A8-E4D2-48F7-A76B-3C58DB1FD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072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D2471-3A94-47FB-B536-FDF57F5BC840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0A9A8-E4D2-48F7-A76B-3C58DB1FD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29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D2471-3A94-47FB-B536-FDF57F5BC840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0A9A8-E4D2-48F7-A76B-3C58DB1FD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916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D2471-3A94-47FB-B536-FDF57F5BC840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0A9A8-E4D2-48F7-A76B-3C58DB1FD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00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D2471-3A94-47FB-B536-FDF57F5BC840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0A9A8-E4D2-48F7-A76B-3C58DB1FD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304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D2471-3A94-47FB-B536-FDF57F5BC840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0A9A8-E4D2-48F7-A76B-3C58DB1FD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41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D2471-3A94-47FB-B536-FDF57F5BC840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0A9A8-E4D2-48F7-A76B-3C58DB1FD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4123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D2471-3A94-47FB-B536-FDF57F5BC840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0A9A8-E4D2-48F7-A76B-3C58DB1FDC5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707485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D2471-3A94-47FB-B536-FDF57F5BC840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0A9A8-E4D2-48F7-A76B-3C58DB1FD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8382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D2471-3A94-47FB-B536-FDF57F5BC840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0A9A8-E4D2-48F7-A76B-3C58DB1FDC5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359011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D2471-3A94-47FB-B536-FDF57F5BC840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0A9A8-E4D2-48F7-A76B-3C58DB1FD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4993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D2471-3A94-47FB-B536-FDF57F5BC840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0A9A8-E4D2-48F7-A76B-3C58DB1FD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8230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D2471-3A94-47FB-B536-FDF57F5BC840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0A9A8-E4D2-48F7-A76B-3C58DB1FD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979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613D2471-3A94-47FB-B536-FDF57F5BC840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1A70A9A8-E4D2-48F7-A76B-3C58DB1FD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3632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EE1D105-8B26-7F16-7805-94B95549167F}"/>
              </a:ext>
            </a:extLst>
          </p:cNvPr>
          <p:cNvSpPr/>
          <p:nvPr/>
        </p:nvSpPr>
        <p:spPr>
          <a:xfrm>
            <a:off x="2528052" y="277792"/>
            <a:ext cx="7120461" cy="9954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Insight Toy Company 2017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AC97ED8-E8A2-AF8C-7324-B2B36B9FD51D}"/>
              </a:ext>
            </a:extLst>
          </p:cNvPr>
          <p:cNvSpPr/>
          <p:nvPr/>
        </p:nvSpPr>
        <p:spPr>
          <a:xfrm>
            <a:off x="2528052" y="4295377"/>
            <a:ext cx="7120461" cy="22078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Amy Snowhill</a:t>
            </a:r>
          </a:p>
          <a:p>
            <a:pPr algn="ctr"/>
            <a:r>
              <a:rPr lang="en-US" sz="3200" dirty="0"/>
              <a:t>ISM4547-11460</a:t>
            </a:r>
          </a:p>
          <a:p>
            <a:pPr algn="ctr"/>
            <a:r>
              <a:rPr lang="en-US" sz="3200" dirty="0"/>
              <a:t>April 19, 2026</a:t>
            </a:r>
          </a:p>
        </p:txBody>
      </p:sp>
      <p:pic>
        <p:nvPicPr>
          <p:cNvPr id="5" name="Graphic 4" descr="Stuffed Toy with solid fill">
            <a:extLst>
              <a:ext uri="{FF2B5EF4-FFF2-40B4-BE49-F238E27FC236}">
                <a16:creationId xmlns:a16="http://schemas.microsoft.com/office/drawing/2014/main" id="{94E275E0-424E-7D2F-9047-7DC4BCAB8E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97829" y="1502229"/>
            <a:ext cx="3418114" cy="2547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004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CDC37C6-8FB7-B966-8A5B-D4C8B43BB8CB}"/>
              </a:ext>
            </a:extLst>
          </p:cNvPr>
          <p:cNvSpPr/>
          <p:nvPr/>
        </p:nvSpPr>
        <p:spPr>
          <a:xfrm>
            <a:off x="2535769" y="103620"/>
            <a:ext cx="7120461" cy="8102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Company Overview (Geographic)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57C807F-644E-C5DC-8F5E-F4DA5C2470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39" t="7337" r="886"/>
          <a:stretch>
            <a:fillRect/>
          </a:stretch>
        </p:blipFill>
        <p:spPr>
          <a:xfrm>
            <a:off x="123462" y="1105106"/>
            <a:ext cx="11945074" cy="4146492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ED049F6-364B-B266-A15A-89D26EF98D7E}"/>
              </a:ext>
            </a:extLst>
          </p:cNvPr>
          <p:cNvSpPr/>
          <p:nvPr/>
        </p:nvSpPr>
        <p:spPr>
          <a:xfrm>
            <a:off x="123462" y="5421086"/>
            <a:ext cx="11945074" cy="13115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Global toy company with operations across six continents.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Presence in developed and emerging markets creates growth opportunities.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Facility locations help serve customers around the world.</a:t>
            </a:r>
          </a:p>
        </p:txBody>
      </p:sp>
    </p:spTree>
    <p:extLst>
      <p:ext uri="{BB962C8B-B14F-4D97-AF65-F5344CB8AC3E}">
        <p14:creationId xmlns:p14="http://schemas.microsoft.com/office/powerpoint/2010/main" val="1878715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24D86-7B86-02D7-7843-9AD616A2D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7573959-82EE-03C2-6669-4E45041335B4}"/>
              </a:ext>
            </a:extLst>
          </p:cNvPr>
          <p:cNvSpPr/>
          <p:nvPr/>
        </p:nvSpPr>
        <p:spPr>
          <a:xfrm>
            <a:off x="2528052" y="277792"/>
            <a:ext cx="7120461" cy="9954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Global Operations by Continent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8BA6B3-1998-9673-AB87-A7AA1017E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029" y="1480457"/>
            <a:ext cx="11691257" cy="3320143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9E80CB1-7A54-C350-278D-B84336C24FAB}"/>
              </a:ext>
            </a:extLst>
          </p:cNvPr>
          <p:cNvSpPr/>
          <p:nvPr/>
        </p:nvSpPr>
        <p:spPr>
          <a:xfrm>
            <a:off x="3844033" y="5051936"/>
            <a:ext cx="4882591" cy="16262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Opened between 1985-2015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252,076 employees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249 sales reps worldwide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127 facilities globally</a:t>
            </a:r>
          </a:p>
        </p:txBody>
      </p:sp>
    </p:spTree>
    <p:extLst>
      <p:ext uri="{BB962C8B-B14F-4D97-AF65-F5344CB8AC3E}">
        <p14:creationId xmlns:p14="http://schemas.microsoft.com/office/powerpoint/2010/main" val="1863123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F604EAA-5C2A-FE1A-9F80-C3DB93D505FB}"/>
              </a:ext>
            </a:extLst>
          </p:cNvPr>
          <p:cNvSpPr/>
          <p:nvPr/>
        </p:nvSpPr>
        <p:spPr>
          <a:xfrm>
            <a:off x="2535769" y="127321"/>
            <a:ext cx="7120461" cy="8102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Company Overview (Historical)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3CF8CC2-2BD3-65B0-F960-6879DF39D5D0}"/>
              </a:ext>
            </a:extLst>
          </p:cNvPr>
          <p:cNvSpPr/>
          <p:nvPr/>
        </p:nvSpPr>
        <p:spPr>
          <a:xfrm>
            <a:off x="644047" y="4519916"/>
            <a:ext cx="10903903" cy="22107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Profit starts at $105K in January and declines to a low of $62K in September.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 strong Q4 recovery peaks at $135K in November, indicating higher year-end demand.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mid-year decline from April to September suggests a consistent seasonal pattern.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3C72E3F-BB0A-5634-73C9-B7BFB14C2F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068" y="1107831"/>
            <a:ext cx="11759879" cy="3093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050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98FE9-E85D-BAFE-752C-2200C9C19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7AEFFE7-AFF9-2FA4-0718-9384F209FE68}"/>
              </a:ext>
            </a:extLst>
          </p:cNvPr>
          <p:cNvSpPr/>
          <p:nvPr/>
        </p:nvSpPr>
        <p:spPr>
          <a:xfrm>
            <a:off x="2118167" y="219919"/>
            <a:ext cx="7581418" cy="8102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Total Profit by Product Line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8EE87F-C623-C844-7750-C0079925FE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509" y="1428387"/>
            <a:ext cx="11620982" cy="3349758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DE60246-D061-C82F-D86B-2C8BBAB8305A}"/>
              </a:ext>
            </a:extLst>
          </p:cNvPr>
          <p:cNvSpPr/>
          <p:nvPr/>
        </p:nvSpPr>
        <p:spPr>
          <a:xfrm>
            <a:off x="479638" y="5050971"/>
            <a:ext cx="11232723" cy="15871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Plush generates $448K in profit, nearly 3x more than Game at $186K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Plush, Game, and Figurine together drive over 73% of total profit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Kiosk and Bead each generate about $35K despite Kiosk’s high volume</a:t>
            </a:r>
          </a:p>
        </p:txBody>
      </p:sp>
    </p:spTree>
    <p:extLst>
      <p:ext uri="{BB962C8B-B14F-4D97-AF65-F5344CB8AC3E}">
        <p14:creationId xmlns:p14="http://schemas.microsoft.com/office/powerpoint/2010/main" val="2218856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948A6-7C08-71F1-3044-0F39E435D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287DA0D-7197-13F1-E9DE-DEAE45CE7514}"/>
              </a:ext>
            </a:extLst>
          </p:cNvPr>
          <p:cNvSpPr/>
          <p:nvPr/>
        </p:nvSpPr>
        <p:spPr>
          <a:xfrm>
            <a:off x="2118167" y="219919"/>
            <a:ext cx="7581418" cy="8102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Profit Margin by Product Line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E0ED48-7A92-A86F-0A62-66CA743C2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035834"/>
            <a:ext cx="10972800" cy="2138149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5DD547C-DBA9-ECAC-C955-929DD3552C28}"/>
              </a:ext>
            </a:extLst>
          </p:cNvPr>
          <p:cNvSpPr/>
          <p:nvPr/>
        </p:nvSpPr>
        <p:spPr>
          <a:xfrm>
            <a:off x="2191473" y="4618299"/>
            <a:ext cx="7434805" cy="178250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Plush has an exceptional margin of 32% 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Most product lines cluster between 7-11% margin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Kiosk and Bead have the lowest margins</a:t>
            </a:r>
          </a:p>
        </p:txBody>
      </p:sp>
    </p:spTree>
    <p:extLst>
      <p:ext uri="{BB962C8B-B14F-4D97-AF65-F5344CB8AC3E}">
        <p14:creationId xmlns:p14="http://schemas.microsoft.com/office/powerpoint/2010/main" val="2435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5D144-E3BF-820A-0D6D-9CF75B65E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FF60963-F29A-3006-6A39-8E5817EACD0B}"/>
              </a:ext>
            </a:extLst>
          </p:cNvPr>
          <p:cNvSpPr/>
          <p:nvPr/>
        </p:nvSpPr>
        <p:spPr>
          <a:xfrm>
            <a:off x="1524000" y="196770"/>
            <a:ext cx="9144000" cy="8102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Number of Products (by Product Line)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64D3F6-1532-0274-2A9D-65C1A6B3A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112" y="1257423"/>
            <a:ext cx="11086617" cy="2747418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4FA31B9-0ED8-1D75-165D-F687615F14CD}"/>
              </a:ext>
            </a:extLst>
          </p:cNvPr>
          <p:cNvSpPr/>
          <p:nvPr/>
        </p:nvSpPr>
        <p:spPr>
          <a:xfrm>
            <a:off x="277792" y="4609617"/>
            <a:ext cx="11619053" cy="149892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Promo and Store carry the largest product ranges (187 and 163 products)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Figurine and Gift have the smallest product ranges (52 and 53 products)</a:t>
            </a:r>
          </a:p>
        </p:txBody>
      </p:sp>
    </p:spTree>
    <p:extLst>
      <p:ext uri="{BB962C8B-B14F-4D97-AF65-F5344CB8AC3E}">
        <p14:creationId xmlns:p14="http://schemas.microsoft.com/office/powerpoint/2010/main" val="17685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79527-0420-0C28-B994-338746756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1EA90E2-B88F-6209-4DF6-51FC7C4D43B7}"/>
              </a:ext>
            </a:extLst>
          </p:cNvPr>
          <p:cNvSpPr/>
          <p:nvPr/>
        </p:nvSpPr>
        <p:spPr>
          <a:xfrm>
            <a:off x="1620253" y="203877"/>
            <a:ext cx="8031206" cy="8102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Number of Customers by Product Line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1D109A-EB14-DF44-02FF-39425787C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046" y="1400537"/>
            <a:ext cx="11702005" cy="2946791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8767BFD-552B-7848-11FF-77E9B0159ECE}"/>
              </a:ext>
            </a:extLst>
          </p:cNvPr>
          <p:cNvSpPr/>
          <p:nvPr/>
        </p:nvSpPr>
        <p:spPr>
          <a:xfrm>
            <a:off x="868103" y="4733761"/>
            <a:ext cx="10695006" cy="171333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Figurine, Plush and Game have the largest customer bases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There is a significant drop after the top 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Promo has the fewest customers despite carrying the most products</a:t>
            </a:r>
          </a:p>
        </p:txBody>
      </p:sp>
    </p:spTree>
    <p:extLst>
      <p:ext uri="{BB962C8B-B14F-4D97-AF65-F5344CB8AC3E}">
        <p14:creationId xmlns:p14="http://schemas.microsoft.com/office/powerpoint/2010/main" val="2028860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AD7FBB2-EBFA-7314-6478-071FA64F3E33}"/>
              </a:ext>
            </a:extLst>
          </p:cNvPr>
          <p:cNvSpPr/>
          <p:nvPr/>
        </p:nvSpPr>
        <p:spPr>
          <a:xfrm>
            <a:off x="2118167" y="219919"/>
            <a:ext cx="8426370" cy="8102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Discount Percentage by Product Line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75651A-21BD-CFE7-4A1C-75E0D6FF2B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880" y="1215343"/>
            <a:ext cx="10683433" cy="328721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AB57DEB-1ADD-B3C3-239A-CA47FD42260F}"/>
              </a:ext>
            </a:extLst>
          </p:cNvPr>
          <p:cNvSpPr/>
          <p:nvPr/>
        </p:nvSpPr>
        <p:spPr>
          <a:xfrm>
            <a:off x="1295451" y="4780547"/>
            <a:ext cx="10234862" cy="136805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Kiosk has the highest discount (10%) but low profit ($35K)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Promo has the lowest discount (5.5%) and the fewest customers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Discounts are consistent across all product lines (5.5%–10%)</a:t>
            </a:r>
          </a:p>
        </p:txBody>
      </p:sp>
    </p:spTree>
    <p:extLst>
      <p:ext uri="{BB962C8B-B14F-4D97-AF65-F5344CB8AC3E}">
        <p14:creationId xmlns:p14="http://schemas.microsoft.com/office/powerpoint/2010/main" val="449627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0AC25-CFF0-D1D9-E144-FCB63750B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FBC3EA4-1DB0-9822-5F2E-5399E8322240}"/>
              </a:ext>
            </a:extLst>
          </p:cNvPr>
          <p:cNvSpPr/>
          <p:nvPr/>
        </p:nvSpPr>
        <p:spPr>
          <a:xfrm>
            <a:off x="2183759" y="128793"/>
            <a:ext cx="7893934" cy="8102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Drivers of Customer Satisfaction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D5D4DC2-E25D-F994-39E2-56285F69AEC1}"/>
              </a:ext>
            </a:extLst>
          </p:cNvPr>
          <p:cNvSpPr/>
          <p:nvPr/>
        </p:nvSpPr>
        <p:spPr>
          <a:xfrm>
            <a:off x="135038" y="4231694"/>
            <a:ext cx="11921924" cy="249751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Sales Rep Rating is the strongest driver of customer satisfaction across products and regions.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Sales Rep Customers shows a moderate link, suggesting larger customer loads may lower satisfaction.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Product quality, facility efficiency, and discounts show weak links to customer satisfaction.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EC73BF-1B51-9985-5FE2-1F1DB2666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714" y="1251568"/>
            <a:ext cx="10765972" cy="2373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3238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79A7C8C-BF25-B75D-A035-9A07A7BB414D}"/>
              </a:ext>
            </a:extLst>
          </p:cNvPr>
          <p:cNvSpPr/>
          <p:nvPr/>
        </p:nvSpPr>
        <p:spPr>
          <a:xfrm>
            <a:off x="2183759" y="128793"/>
            <a:ext cx="7893934" cy="8102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Drivers of Manufacturing Reliability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46B1DF2-8D41-5982-1F79-42C7CE1480D7}"/>
              </a:ext>
            </a:extLst>
          </p:cNvPr>
          <p:cNvSpPr/>
          <p:nvPr/>
        </p:nvSpPr>
        <p:spPr>
          <a:xfrm>
            <a:off x="135038" y="4155494"/>
            <a:ext cx="11921924" cy="257371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Unit Lifespan has the strongest link to reliability; units near end of life should be replaced first.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Unit Age and Yield Rate also strongly affect reliability; older, lower performing units drive inefficiency.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Discounts correlate with discard rate and age, suggesting reactive pricing tied to poor performance.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56BAEEB-1423-12C9-1CD4-C7F21069D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514" y="1308425"/>
            <a:ext cx="11321143" cy="2708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081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F2DFA-6B19-7FF4-1838-B2CFAD81B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FD6F904-0C5F-05B8-07DF-7C47CAB36A82}"/>
              </a:ext>
            </a:extLst>
          </p:cNvPr>
          <p:cNvSpPr/>
          <p:nvPr/>
        </p:nvSpPr>
        <p:spPr>
          <a:xfrm>
            <a:off x="2118167" y="219919"/>
            <a:ext cx="7581418" cy="8102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Product Lines to Retain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8AE992E-1DEC-2BFD-EE31-62B47D71A481}"/>
              </a:ext>
            </a:extLst>
          </p:cNvPr>
          <p:cNvSpPr/>
          <p:nvPr/>
        </p:nvSpPr>
        <p:spPr>
          <a:xfrm>
            <a:off x="1089441" y="4437368"/>
            <a:ext cx="10316495" cy="17593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Plush, Game, and Figurine exceed $100K and should be retained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Promo, Store, and Gift should be monitored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Kiosk and Bead fall below $50K and should be retired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892531-CDD5-98A1-67FB-03893B615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71" y="1208314"/>
            <a:ext cx="12017830" cy="2869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4897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AF437-AE85-2015-B2EF-D98450ADE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A342ECB-4FA6-9413-CF1C-0C5F4D89320A}"/>
              </a:ext>
            </a:extLst>
          </p:cNvPr>
          <p:cNvSpPr/>
          <p:nvPr/>
        </p:nvSpPr>
        <p:spPr>
          <a:xfrm>
            <a:off x="2118167" y="219919"/>
            <a:ext cx="7581418" cy="8102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Impact of Simplification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1EC8D1-1B63-BD75-AE1F-426EC3BCA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62" y="1224513"/>
            <a:ext cx="10857054" cy="4030226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1CF7355-0B0E-6645-CB8B-B382572DB836}"/>
              </a:ext>
            </a:extLst>
          </p:cNvPr>
          <p:cNvSpPr/>
          <p:nvPr/>
        </p:nvSpPr>
        <p:spPr>
          <a:xfrm>
            <a:off x="1539433" y="5347002"/>
            <a:ext cx="8727312" cy="13833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Retiring Kiosk and Bead retains 93% of total profit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Portfolio reduced by 20% with 166 products eliminated</a:t>
            </a:r>
          </a:p>
        </p:txBody>
      </p:sp>
    </p:spTree>
    <p:extLst>
      <p:ext uri="{BB962C8B-B14F-4D97-AF65-F5344CB8AC3E}">
        <p14:creationId xmlns:p14="http://schemas.microsoft.com/office/powerpoint/2010/main" val="8340866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7FF34-A689-892D-DC79-4509B88BE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59307D4-078C-27A3-ACE6-32183BB95AF4}"/>
              </a:ext>
            </a:extLst>
          </p:cNvPr>
          <p:cNvSpPr/>
          <p:nvPr/>
        </p:nvSpPr>
        <p:spPr>
          <a:xfrm>
            <a:off x="2118167" y="219919"/>
            <a:ext cx="7581418" cy="8102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Key insights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B5908D2-F958-D92F-76E2-7D7511637A27}"/>
              </a:ext>
            </a:extLst>
          </p:cNvPr>
          <p:cNvSpPr/>
          <p:nvPr/>
        </p:nvSpPr>
        <p:spPr>
          <a:xfrm>
            <a:off x="52086" y="1411705"/>
            <a:ext cx="12087828" cy="52263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Plush drives $448K profit (32%), nearly 3x Game, from only 13% of products, making it the top investment opportunity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Sales Rep Rating is the strongest driver of customer satisfaction, which remains below 52% despite high quality and reliability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Figurine has 5,300 customers but only $104K profit, indicating pricing upside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Kiosk sells 80K+ items but only $35K profit with the highest discount (10%)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Retiring Kiosk and Bead cuts 166 products (20%) while keeping 93% of profit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Americas dominate with 85 facilities, while EMEA and APAC offer growth potential</a:t>
            </a:r>
          </a:p>
        </p:txBody>
      </p:sp>
    </p:spTree>
    <p:extLst>
      <p:ext uri="{BB962C8B-B14F-4D97-AF65-F5344CB8AC3E}">
        <p14:creationId xmlns:p14="http://schemas.microsoft.com/office/powerpoint/2010/main" val="36371164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24A0B22-F3B6-B666-9885-95D7A4588FAD}"/>
              </a:ext>
            </a:extLst>
          </p:cNvPr>
          <p:cNvSpPr/>
          <p:nvPr/>
        </p:nvSpPr>
        <p:spPr>
          <a:xfrm>
            <a:off x="3461657" y="1143000"/>
            <a:ext cx="5268686" cy="1219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Thank you!</a:t>
            </a:r>
          </a:p>
        </p:txBody>
      </p:sp>
      <p:pic>
        <p:nvPicPr>
          <p:cNvPr id="5" name="Graphic 4" descr="Stuffed Toy with solid fill">
            <a:extLst>
              <a:ext uri="{FF2B5EF4-FFF2-40B4-BE49-F238E27FC236}">
                <a16:creationId xmlns:a16="http://schemas.microsoft.com/office/drawing/2014/main" id="{917BCB4F-171D-832C-A345-C4B96944FE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86943" y="3113315"/>
            <a:ext cx="3418114" cy="2547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088399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17217</TotalTime>
  <Words>577</Words>
  <Application>Microsoft Office PowerPoint</Application>
  <PresentationFormat>Widescreen</PresentationFormat>
  <Paragraphs>64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Century Gothic</vt:lpstr>
      <vt:lpstr>Wingdings 3</vt:lpstr>
      <vt:lpstr>Slice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Amy Snowhill</dc:creator>
  <cp:lastModifiedBy>Amy Snowhill</cp:lastModifiedBy>
  <cp:revision>41</cp:revision>
  <dcterms:created xsi:type="dcterms:W3CDTF">2026-04-07T20:48:57Z</dcterms:created>
  <dcterms:modified xsi:type="dcterms:W3CDTF">2026-04-23T14:26:36Z</dcterms:modified>
</cp:coreProperties>
</file>